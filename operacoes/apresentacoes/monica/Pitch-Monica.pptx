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4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2950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7315200" y="-1371600"/>
            <a:ext cx="6400800" cy="6400800"/>
          </a:xfrm>
          <a:prstGeom prst="ellipse">
            <a:avLst/>
          </a:prstGeom>
          <a:solidFill>
            <a:srgbClr val="1A0A2E">
              <a:alpha val="40000"/>
            </a:srgbClr>
          </a:solidFill>
          <a:ln w="12700">
            <a:solidFill>
              <a:srgbClr val="1A0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14400" y="9144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MONICA DE OLIVEIRA · @MONICADEOLIVEIRA.PSI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371600"/>
            <a:ext cx="1036015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Monica, você passa anos</a:t>
            </a:r>
            <a:endParaRPr lang="en-US" sz="48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ajudando mulheres a se entenderem.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5728716" y="3474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371600" y="361188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vou te mostrar como isso pode gerar dinheiro</a:t>
            </a:r>
            <a:endParaRPr lang="en-US" sz="2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você descansa.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4526280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30 minutos.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o ativo mais raro</a:t>
            </a:r>
            <a:endParaRPr lang="en-US" sz="46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mercado digital.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5728716" y="2331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3657600" cy="393192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9436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Autoridade Real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82880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9436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ensina psicanálise como teoria.</a:t>
            </a:r>
            <a:endParaRPr lang="en-US" sz="13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fala como quem viveu.</a:t>
            </a:r>
            <a:endParaRPr lang="en-US" sz="13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cria confiança que não se compra.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514600"/>
            <a:ext cx="3657600" cy="3931920"/>
          </a:xfrm>
          <a:prstGeom prst="rect">
            <a:avLst/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52628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Audiência que Converte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6072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52628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Mulheres que se perdem, se anulam e buscam se reconstruir.</a:t>
            </a:r>
            <a:endParaRPr lang="en-US" sz="13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público que mais compra infoproduto no Brasil.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2514600"/>
            <a:ext cx="3657600" cy="393192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845820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sem Teto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69264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845820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Autoconhecimento feminino é um dos mercados</a:t>
            </a:r>
            <a:endParaRPr lang="en-US" sz="13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mais cresce no digital. Você está</a:t>
            </a:r>
            <a:endParaRPr lang="en-US" sz="13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no centro dele.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649224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falta é a engrenagem certa para isso gerar dinheiro enquanto você dorme.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· EM 3 LINHAS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036015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grava.</a:t>
            </a:r>
            <a:endParaRPr lang="en-US" sz="44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cuido do resto.</a:t>
            </a:r>
            <a:endParaRPr lang="en-US" sz="44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fim do mês, você recebe sua parte.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728716" y="27889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3566160" cy="329184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 as aulas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o que você já sabe.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voz, sua história,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jeito que você fala.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926080"/>
            <a:ext cx="3566160" cy="3291840"/>
          </a:xfrm>
          <a:prstGeom prst="rect">
            <a:avLst/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48056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estruturo tudo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Produto, funil, anúncios,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copy, páginas, suporte.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preocupação pra você.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0" y="2926080"/>
            <a:ext cx="3566160" cy="329184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832104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Dividimos o resultado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0392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 do que entrar.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vê os números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tempo real.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ANÚNCIO AO ALTO TICKET — TUDO AUTOMÁTICO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pessoa clica no anúncio às 3h da manhã.</a:t>
            </a:r>
            <a:endParaRPr lang="en-US" sz="30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dormindo. O funil vende.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728716" y="20116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274320" y="2240280"/>
            <a:ext cx="1234440" cy="146304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320040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ANÚNCIO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tráfego pago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545336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764792" y="2240280"/>
            <a:ext cx="1234440" cy="146304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810512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10512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de vendas</a:t>
            </a:r>
            <a:endParaRPr lang="en-US" sz="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(sua voz)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35808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55264" y="2240280"/>
            <a:ext cx="1234440" cy="146304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3300984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00984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26280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45736" y="2240280"/>
            <a:ext cx="1234440" cy="1463040"/>
          </a:xfrm>
          <a:prstGeom prst="rect">
            <a:avLst/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791456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91456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R$ 599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16752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36208" y="2240280"/>
            <a:ext cx="1234440" cy="1463040"/>
          </a:xfrm>
          <a:prstGeom prst="rect">
            <a:avLst/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6281928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81928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R$ 2.000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07224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26680" y="2240280"/>
            <a:ext cx="1234440" cy="146304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7772400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WEBNÁRIO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0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vivo</a:t>
            </a:r>
            <a:endParaRPr lang="en-US" sz="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mensalmente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97696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217152" y="2240280"/>
            <a:ext cx="1234440" cy="1463040"/>
          </a:xfrm>
          <a:prstGeom prst="rect">
            <a:avLst/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9262872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TICKET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262872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· 20k · 50k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488168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707624" y="2240280"/>
            <a:ext cx="1234440" cy="146304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10753344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LANÇA-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753344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anual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14400" y="393192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cria uma vez. O funil vende todos os dias.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274320" y="4572000"/>
            <a:ext cx="11640312" cy="36576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914400" y="4663440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funil validado: Lançamento → Evento Presencial → Novo Produto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ESTRATÉGIA — DO ZERO AO PERPÉTUO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01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dias para o funil rodar.</a:t>
            </a:r>
            <a:endParaRPr lang="en-US" sz="36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Depois, ele vende sozinho.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728716" y="196596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320040" y="2148840"/>
            <a:ext cx="2743200" cy="429768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32004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6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Posicionamento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25880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411480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Mapeamos sua audiência.</a:t>
            </a:r>
            <a:endParaRPr lang="en-US" sz="12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Definimos o produto, o preço</a:t>
            </a:r>
            <a:endParaRPr lang="en-US" sz="12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ângulo da VSL.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1–2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81528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64408" y="2148840"/>
            <a:ext cx="2743200" cy="429768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264408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55848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</a:t>
            </a:r>
            <a:endParaRPr lang="en-US" sz="16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Produção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0248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3355848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 as aulas.</a:t>
            </a:r>
            <a:endParaRPr lang="en-US" sz="12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produzo a VSL, as páginas,</a:t>
            </a:r>
            <a:endParaRPr lang="en-US" sz="12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emails e os anúncios.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64408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3–5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25896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08776" y="2148840"/>
            <a:ext cx="2743200" cy="429768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6208776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00216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</a:t>
            </a:r>
            <a:endParaRPr lang="en-US" sz="16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Validação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214616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6300216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Subimos com budget pequeno.</a:t>
            </a:r>
            <a:endParaRPr lang="en-US" sz="12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Testamos. Medimos.</a:t>
            </a:r>
            <a:endParaRPr lang="en-US" sz="12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Ajustamos com dado real.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08776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6–8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70264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53144" y="2148840"/>
            <a:ext cx="2743200" cy="4297680"/>
          </a:xfrm>
          <a:prstGeom prst="rect">
            <a:avLst/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9153144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44584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6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Perpétua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158984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9244584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ROAS validado, escalamos.</a:t>
            </a:r>
            <a:endParaRPr lang="en-US" sz="12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funil roda 24h sem você.</a:t>
            </a:r>
            <a:endParaRPr lang="en-US" sz="12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produtos na esteira.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53144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3 em diante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649224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aparece. Eu opero. O funil vende enquanto você dorme.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VI NO SEU PERFIL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036015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12 mil mulheres que confiam em você.</a:t>
            </a:r>
            <a:endParaRPr lang="en-US" sz="40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zero produto escalável.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728716" y="24688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5029200" cy="329184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33832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Atendimento individual — caro e limitado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858768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Você para → a renda para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33425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Crescer = mais horas de trabalho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4809744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12k seguidores vendo conteúdo de graça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28523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Potencial enorme. Sem canal de venda.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2743200"/>
            <a:ext cx="5029200" cy="3291840"/>
          </a:xfrm>
          <a:prstGeom prst="rect">
            <a:avLst/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217920" y="2926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ESTRUTURA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92240" y="33832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Produto digital vendendo 24h/dia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3858768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Você dorme → o funil vende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433425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Crescer = ajustar os anúncios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4809744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12k seguidores virando clientes reais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528523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Renda que escala sem você estar presente.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612648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não é falta de competência. É falta de estrutura. E estrutura eu tenho.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JÁ FEZ ISSO ANTES DE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teoria. São pessoas reais com histórias verificáveis.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728716" y="14173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3657600" cy="484632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" name="Image 0" descr="c:/Users/Desktop/Downloads/grupoaura/operacoes/apresentacoes/monica/foto-elida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" y="1828800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6187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@elidadiasv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6187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Elida Dias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R$ 20M+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59436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tráfego direto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59436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Jovem aprendiz da periferia de Belém.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capital, sem contato.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Usou o próprio conhecimento como produto.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tem +30 mil alunos.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350k seguidores · verificada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389120" y="1691640"/>
            <a:ext cx="3657600" cy="4846320"/>
          </a:xfrm>
          <a:prstGeom prst="rect">
            <a:avLst/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6" name="Image 1" descr="c:/Users/Desktop/Downloads/grupoaura/operacoes/apresentacoes/monica/foto-lucas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26280" y="1828800"/>
            <a:ext cx="594360" cy="5943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19379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@lucasramos1_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19379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Ramos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dígitos</a:t>
            </a:r>
            <a:endParaRPr lang="en-US" sz="3600" dirty="0"/>
          </a:p>
        </p:txBody>
      </p:sp>
      <p:sp>
        <p:nvSpPr>
          <p:cNvPr id="20" name="Text 16"/>
          <p:cNvSpPr/>
          <p:nvPr/>
        </p:nvSpPr>
        <p:spPr>
          <a:xfrm>
            <a:off x="452628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faturados como produtor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2628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18"/>
          <p:cNvSpPr/>
          <p:nvPr/>
        </p:nvSpPr>
        <p:spPr>
          <a:xfrm>
            <a:off x="452628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Sócio 50/50 dos maiores experts do Brasil.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dígitos de lucro por dia no modelo perpétuo.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expert — é o cara que opera os bastidores.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o que eu faço.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52628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Produtor referência em DR com expert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321040" y="1691640"/>
            <a:ext cx="3657600" cy="484632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25" name="Image 2" descr="c:/Users/Desktop/Downloads/grupoaura/operacoes/apresentacoes/monica/foto-enzo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58200" y="1828800"/>
            <a:ext cx="594360" cy="5943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12571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@enzoneto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912571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Neto — Chef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845820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1,1M</a:t>
            </a:r>
            <a:endParaRPr lang="en-US" sz="3600" dirty="0"/>
          </a:p>
        </p:txBody>
      </p:sp>
      <p:sp>
        <p:nvSpPr>
          <p:cNvPr id="29" name="Text 24"/>
          <p:cNvSpPr/>
          <p:nvPr/>
        </p:nvSpPr>
        <p:spPr>
          <a:xfrm>
            <a:off x="845820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· funil ativo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845820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6"/>
          <p:cNvSpPr/>
          <p:nvPr/>
        </p:nvSpPr>
        <p:spPr>
          <a:xfrm>
            <a:off x="845820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Transformou conhecimento de cozinha no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mais escolhido do Brasil.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que parecia impossível de escalar.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quando a estrutura está certa.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845820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 milhão de seguidores · verificado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FUNCIONA EM QUALQUER NICHO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5120640" cy="4754880"/>
          </a:xfrm>
          <a:prstGeom prst="rect">
            <a:avLst/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5" name="Image 0" descr="c:/Users/Desktop/Downloads/grupoaura/operacoes/apresentacoes/monica/foto-priscian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4400" y="1143000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@priscianepereira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600200" y="14813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Prisciane Pereira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19202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953k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914400" y="26517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em escala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14400" y="2971800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914400" y="31089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Ensina renda extra com Shopee.</a:t>
            </a:r>
            <a:endParaRPr lang="en-US" sz="14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Criou um funil de VSL que vende</a:t>
            </a:r>
            <a:endParaRPr lang="en-US" sz="14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dias, com tráfego pago.</a:t>
            </a:r>
            <a:endParaRPr lang="en-US" sz="14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sistema que seria aplicado aqui.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5303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953 mil seguidores · verificada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949440" y="1005840"/>
            <a:ext cx="5120640" cy="475488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4" name="Image 1" descr="c:/Users/Desktop/Downloads/grupoaura/operacoes/apresentacoes/monica/foto-fealves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132320" y="1143000"/>
            <a:ext cx="594360" cy="5943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81812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@fealvessn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818120" y="14813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Alves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32320" y="19202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6,9M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7132320" y="26517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· múltiplos produtos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132320" y="2971800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6"/>
          <p:cNvSpPr/>
          <p:nvPr/>
        </p:nvSpPr>
        <p:spPr>
          <a:xfrm>
            <a:off x="7132320" y="31089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pessoal e autoconhecimento.</a:t>
            </a:r>
            <a:endParaRPr lang="en-US" sz="14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muito próximo ao seu.</a:t>
            </a:r>
            <a:endParaRPr lang="en-US" sz="14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Autoridade construída com conteúdo —</a:t>
            </a:r>
            <a:endParaRPr lang="en-US" sz="14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funil estruturado multiplica o orgânico.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7132320" y="5303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6,9 milhões de seguidores · verificado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começaram onde você está agora.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A0A2E"/>
          </a:solidFill>
          <a:ln w="12700">
            <a:solidFill>
              <a:srgbClr val="1A0A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4" name="Image 0" descr="c:/Users/Desktop/Downloads/grupoaura/operacoes/apresentacoes/monica/kaua-palc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5029200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0000">
              <a:alpha val="6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914400" y="502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SOU EU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0" y="777240"/>
            <a:ext cx="6217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Kauã</a:t>
            </a:r>
            <a:endParaRPr lang="en-US" sz="5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Rodriguez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486400" y="22860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Response · Coprodução com Experts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0" y="2743200"/>
            <a:ext cx="5943600" cy="2743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5486400" y="288036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 dígitos faturados</a:t>
            </a: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coproduções com experts.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0" y="3520440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5486400" y="3685032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anos no digital.</a:t>
            </a: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Construindo antes de virar tendência.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0" y="4325112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5486400" y="4489704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Escalei mais de 3 experts</a:t>
            </a: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múltiplos 6 dígitos por mês.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0" y="5129784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5486400" y="5294376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Convidado a palestrar no Ouro Digital</a:t>
            </a: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um dos maiores eventos de performance do Brasil.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PARCERIA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faz o que só você pode fazer.</a:t>
            </a:r>
            <a:endParaRPr lang="en-US" sz="38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faço todo o resto.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728716" y="22402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5303520" cy="4023360"/>
          </a:xfrm>
          <a:prstGeom prst="rect">
            <a:avLst/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FAZ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Gravar as aulas com sua voz e sua história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67588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 a autoridade do produto ao público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33425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Participar das sessões de alto ticket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5989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 a 8 horas por semana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0" y="2423160"/>
            <a:ext cx="5303520" cy="4023360"/>
          </a:xfrm>
          <a:prstGeom prst="rect">
            <a:avLst/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400800" y="2560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FAÇO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675120" y="301752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Posicionamento e criação do produto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75120" y="352044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Copy completa: VSL, páginas, anúncios, emails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402336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Criação e gestão diária dos anúncios pagos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75120" y="452628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Operação completa do funil de vendas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502920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Suporte ao cliente e reembolsos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553212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Relatório semanal de performance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5989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horas por semana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53796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traz o ativo mais valioso: sua autoridade. Eu trago a engrenagem que a converte em receita.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REPRESENTA PARA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0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90 dias, o que sua audiência pode gerar.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371600" y="16002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40480" y="16002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Invest. em Ads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0" y="16002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Bruta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(50%)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71600" y="2011680"/>
            <a:ext cx="9875520" cy="2743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371600" y="21945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0480" y="2194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R$ 5k/mês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0" y="21945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R$ 30–60k/mês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0" y="21945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R$ 15–30k/mês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27889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40480" y="27889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R$ 20k/mês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27889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R$ 100–200k/mês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0" y="27889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R$ 50–100k/mês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88720" y="3291840"/>
            <a:ext cx="10241280" cy="594360"/>
          </a:xfrm>
          <a:prstGeom prst="rect">
            <a:avLst/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371600" y="33832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840480" y="3383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R$ 50k/mês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33832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R$ 400k+/mês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0" y="33832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R$ 200k+/mês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14800"/>
            <a:ext cx="51800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R$ 15.000</a:t>
            </a:r>
            <a:endParaRPr lang="en-US" sz="6800" dirty="0"/>
          </a:p>
        </p:txBody>
      </p:sp>
      <p:sp>
        <p:nvSpPr>
          <p:cNvPr id="24" name="Text 22"/>
          <p:cNvSpPr/>
          <p:nvPr/>
        </p:nvSpPr>
        <p:spPr>
          <a:xfrm>
            <a:off x="914400" y="5120640"/>
            <a:ext cx="51800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900" b="1" kern="0" spc="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· MÊS 1</a:t>
            </a:r>
            <a:endParaRPr lang="en-US" sz="9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900" b="1" kern="0" spc="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CONSERVADOR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076188" y="4069080"/>
            <a:ext cx="36576" cy="1645920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6551676" y="4114800"/>
            <a:ext cx="499719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R$ 1,2M+</a:t>
            </a:r>
            <a:endParaRPr lang="en-US" sz="6800" dirty="0"/>
          </a:p>
        </p:txBody>
      </p:sp>
      <p:sp>
        <p:nvSpPr>
          <p:cNvPr id="27" name="Text 25"/>
          <p:cNvSpPr/>
          <p:nvPr/>
        </p:nvSpPr>
        <p:spPr>
          <a:xfrm>
            <a:off x="6551676" y="5120640"/>
            <a:ext cx="49971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900" b="1" kern="0" spc="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· ANO 1</a:t>
            </a:r>
            <a:endParaRPr lang="en-US" sz="9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900" b="1" kern="0" spc="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MODERADO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71600" y="580644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em funis ativos com públicos similares. Começamos conservador, escalamos com dado real.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71600" y="621792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investe um centavo — eu coloco o capital de ads e recupero do resultado.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SEGURANÇA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eu prometo,
</a:t>
            </a:r>
            <a:r>
              <a:rPr lang="en-US" sz="5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assino.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5728716" y="2331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371600" y="251460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combinamos entra no contrato.</a:t>
            </a:r>
            <a:endParaRPr lang="en-US" sz="18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fica só na palavra.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3383280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74520" y="3383280"/>
            <a:ext cx="8897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4133088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874520" y="4133088"/>
            <a:ext cx="8897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4882896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74520" y="4882896"/>
            <a:ext cx="8897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5632704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874520" y="5632704"/>
            <a:ext cx="8897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20368" y="3438144"/>
            <a:ext cx="94457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precisa acreditar na minha palavra.</a:t>
            </a:r>
            <a:endParaRPr lang="en-US" sz="15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vai ter tudo escrito, assinado e verificável.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3AED">
              <a:alpha val="7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914400" y="731520"/>
            <a:ext cx="1036015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te impediria</a:t>
            </a:r>
            <a:endParaRPr lang="en-US" sz="64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tentar?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371600" y="283464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2200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a autoridade. Eu tenho a operação.</a:t>
            </a:r>
            <a:endParaRPr lang="en-US" sz="2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2200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apenas decidir se você quer ver isso funcionando.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3749040"/>
            <a:ext cx="5760720" cy="27432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371600" y="3931920"/>
            <a:ext cx="944575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70000"/>
              </a:lnSpc>
              <a:buNone/>
            </a:pPr>
            <a:r>
              <a:rPr lang="en-US" sz="17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call de 30 minutos não é para te vender nada.
É para você entender, com todos os dados na mesa, se faz sentido.
</a:t>
            </a: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fizer — avançamos.
</a:t>
            </a:r>
            <a:r>
              <a:rPr lang="en-US" sz="17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fizer — você sai com clareza do que é possível para o seu negócio.
</a:t>
            </a: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dois casos, você ganha.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7315200" y="-1371600"/>
            <a:ext cx="6400800" cy="6400800"/>
          </a:xfrm>
          <a:prstGeom prst="ellipse">
            <a:avLst/>
          </a:prstGeom>
          <a:solidFill>
            <a:srgbClr val="1A0A2E">
              <a:alpha val="40000"/>
            </a:srgbClr>
          </a:solidFill>
          <a:ln w="12700">
            <a:solidFill>
              <a:srgbClr val="1A0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14400" y="11887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PRÓXIMA JOGADA É SUA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Kauã Rodriguez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@okauarodriguez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RESPONSE  ·  COPRODUÇÃO COM EXPERTS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0" y="4114800"/>
            <a:ext cx="4873752" cy="36576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914400" y="43434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próxima jogada é sua.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1285</Words>
  <Application>Microsoft Office PowerPoint</Application>
  <PresentationFormat>Widescreen</PresentationFormat>
  <Paragraphs>253</Paragraphs>
  <Slides>14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Desktop</cp:lastModifiedBy>
  <cp:revision>2</cp:revision>
  <dcterms:created xsi:type="dcterms:W3CDTF">2026-04-29T01:14:14Z</dcterms:created>
  <dcterms:modified xsi:type="dcterms:W3CDTF">2026-04-29T01:14:51Z</dcterms:modified>
</cp:coreProperties>
</file>